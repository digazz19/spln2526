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44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E7C7B">
              <a:alpha val="25000"/>
            </a:srgbClr>
          </a:solidFill>
          <a:ln w="12700">
            <a:solidFill>
              <a:srgbClr val="0E7C7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7B8A6">
              <a:alpha val="40000"/>
            </a:srgbClr>
          </a:solidFill>
          <a:ln w="12700">
            <a:solidFill>
              <a:srgbClr val="17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You Need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9260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11480" y="33101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— Google Brain / Google Research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73659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Abreu · PG55936 — Scripting no </a:t>
            </a:r>
            <a:r>
              <a:rPr lang="en-US" sz="1000" dirty="0" err="1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r>
              <a:rPr lang="en-US" sz="10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r>
              <a:rPr lang="en-US" sz="10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· UMinho 2025/26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D2B3E"/>
                </a:solidFill>
                <a:latin typeface="Cambria" pitchFamily="34" charset="0"/>
                <a:ea typeface="Cambria" pitchFamily="34" charset="-122"/>
              </a:rPr>
              <a:t>Índice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" y="11704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" y="14447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eram os RNNs e porque falhavam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3852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" y="19019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2176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como substituto completo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7004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" y="26334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9077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Encoder, Decoder, sub-camadas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40156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" y="3364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atenção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3639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e Multi-Head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13308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" y="40965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" y="4370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ordem sem recorrência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0700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4663440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92624" y="11704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regularização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14447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dropout, label smoothing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93852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66344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2624" y="19019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92624" y="2176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scores e custo computacional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67004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466344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92624" y="26334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92624" y="29077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ablation, interpretabilidade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40156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Text 37"/>
          <p:cNvSpPr/>
          <p:nvPr/>
        </p:nvSpPr>
        <p:spPr>
          <a:xfrm>
            <a:off x="466344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92624" y="3364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self-attention?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92624" y="3639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Complexidade, paralelização, path length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413308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Text 41"/>
          <p:cNvSpPr/>
          <p:nvPr/>
        </p:nvSpPr>
        <p:spPr>
          <a:xfrm>
            <a:off x="466344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92624" y="40965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 ligação ao SPLN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92624" y="4370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GPT, BPE, N-gramas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da arte antes do Transformer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5029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54864" cy="3566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39496" y="1261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funcionavam os RNNs / LSTMs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28216"/>
            <a:ext cx="4736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passo de tempo t, a rede recebe o token actual xₜ e o estado oculto anterior hₜ₋₁, e produz: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" y="2432304"/>
            <a:ext cx="4663440" cy="615696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1" name="Text 9"/>
          <p:cNvSpPr/>
          <p:nvPr/>
        </p:nvSpPr>
        <p:spPr>
          <a:xfrm>
            <a:off x="736092" y="247345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 =  f( hₜ₋₁ , xₜ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" y="3200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hₜ é uma "memória resumida" de tudo o que a rede viu até agora. O problema é que esta memória tem de comprimir toda a informação num vector de dimensão fixa — informação de tokens distantes dilui-se.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41330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Vanishing gradient em sequências longas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96128" y="1170432"/>
            <a:ext cx="3136392" cy="356616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724144" y="1261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Limitações Críticas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24144" y="1627632"/>
            <a:ext cx="45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833872" y="1664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sequencial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33872" y="1938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hₜ depende de hₜ₋₁ — impossível paralelizar. GPUs subutilizadas.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24144" y="2633472"/>
            <a:ext cx="45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833872" y="2670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longas degradam-se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33872" y="2944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homem... ficou triste" — o sinal percorre muitos passos e atenua.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24144" y="3639312"/>
            <a:ext cx="45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5833872" y="3675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apenas como remendo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33872" y="39502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(2015) adicionou atenção por cima de RNNs, nunca como substituto.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IDEIA CENTRAL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 radical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1005840"/>
          </a:xfrm>
          <a:prstGeom prst="rect">
            <a:avLst/>
          </a:prstGeom>
          <a:solidFill>
            <a:srgbClr val="0E7C7B">
              <a:alpha val="22000"/>
            </a:srgbClr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completamente a recorrência e as convoluções, e construir um modelo baseado exclusivamente em mecanismos de atenção.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2746248" cy="2514600"/>
          </a:xfrm>
          <a:prstGeom prst="rect">
            <a:avLst/>
          </a:prstGeom>
          <a:solidFill>
            <a:srgbClr val="0E3D4A"/>
          </a:solidFill>
          <a:ln w="9525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274624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2517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passar um estado oculto token a token, cada token "olha directamente" para todos os outros da sequência e decide quais são relevantes.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0880" y="2331720"/>
            <a:ext cx="2746248" cy="2514600"/>
          </a:xfrm>
          <a:prstGeom prst="rect">
            <a:avLst/>
          </a:prstGeom>
          <a:solidFill>
            <a:srgbClr val="0E3D4A"/>
          </a:solidFill>
          <a:ln w="9525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230880" y="2331720"/>
            <a:ext cx="274624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368040" y="2487168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 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8040" y="2852928"/>
            <a:ext cx="2517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não há dependências sequenciais entre tokens, o treino pode processar toda a sequência em paralelo — utilizando as GPUs ao máximo.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0280" y="2331720"/>
            <a:ext cx="2746248" cy="2514600"/>
          </a:xfrm>
          <a:prstGeom prst="rect">
            <a:avLst/>
          </a:prstGeom>
          <a:solidFill>
            <a:srgbClr val="0E3D4A"/>
          </a:solidFill>
          <a:ln w="9525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6050280" y="2331720"/>
            <a:ext cx="274624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187440" y="2487168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O(1)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7440" y="2852928"/>
            <a:ext cx="2517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dois tokens comunicam directamente em 1 passo, independentemente da sua distância na frase — dependências longas são triviais.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ARQUITECTURA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Encoder-Decoder: visão geral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572768" cy="658368"/>
          </a:xfrm>
          <a:prstGeom prst="rect">
            <a:avLst/>
          </a:prstGeom>
          <a:solidFill>
            <a:srgbClr val="7FA8A5"/>
          </a:solidFill>
          <a:ln w="12700">
            <a:solidFill>
              <a:srgbClr val="7FA8A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(EN)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em inglês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737360"/>
            <a:ext cx="128016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984248" y="169164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30552" y="1463040"/>
            <a:ext cx="1572768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130552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0552" y="1847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FFN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1737360"/>
            <a:ext cx="128016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703320" y="169164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9624" y="1463040"/>
            <a:ext cx="1572768" cy="65836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3849624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z₁...zₙ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9624" y="1847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contínuas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1737360"/>
            <a:ext cx="128016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422392" y="169164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68696" y="1463040"/>
            <a:ext cx="1572768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568696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×6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68696" y="1847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attn + cross-attn + FFN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1737360"/>
            <a:ext cx="128016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7141464" y="169164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87768" y="1463040"/>
            <a:ext cx="1572768" cy="658368"/>
          </a:xfrm>
          <a:prstGeom prst="rect">
            <a:avLst/>
          </a:prstGeom>
          <a:solidFill>
            <a:srgbClr val="7FA8A5"/>
          </a:solidFill>
          <a:ln w="12700">
            <a:solidFill>
              <a:srgbClr val="7FA8A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7287768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(DE)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87768" y="1847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 token a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377440"/>
            <a:ext cx="41605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11480" y="2377440"/>
            <a:ext cx="54864" cy="2423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539496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— cada camada (×6)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2834640"/>
            <a:ext cx="45720" cy="5029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704088" y="286207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Sub-camada 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" y="31089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— cada posição atende a todas as outras da entrada.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" y="3493008"/>
            <a:ext cx="45720" cy="5029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704088" y="35204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Sub-camada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" y="37673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— FFN(x) = max(0, xW₁+b₁)W₂+b₂  |  d_ff=2048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" y="4151376"/>
            <a:ext cx="45720" cy="5029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9" name="Text 37"/>
          <p:cNvSpPr/>
          <p:nvPr/>
        </p:nvSpPr>
        <p:spPr>
          <a:xfrm>
            <a:off x="704088" y="417880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LayerNorm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" y="44256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 + normalização após cada sub-camada. d_model=512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2377440"/>
            <a:ext cx="37033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Shape 40"/>
          <p:cNvSpPr/>
          <p:nvPr/>
        </p:nvSpPr>
        <p:spPr>
          <a:xfrm>
            <a:off x="5029200" y="2377440"/>
            <a:ext cx="54864" cy="2423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Text 41"/>
          <p:cNvSpPr/>
          <p:nvPr/>
        </p:nvSpPr>
        <p:spPr>
          <a:xfrm>
            <a:off x="5157216" y="2468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— cada camada (×6)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93792" y="2834640"/>
            <a:ext cx="457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5" name="Text 43"/>
          <p:cNvSpPr/>
          <p:nvPr/>
        </p:nvSpPr>
        <p:spPr>
          <a:xfrm>
            <a:off x="5321808" y="28620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Sub-camada 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21808" y="31089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— masking (-∞) impede ver tokens futuros.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93792" y="3493008"/>
            <a:ext cx="457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6"/>
          <p:cNvSpPr/>
          <p:nvPr/>
        </p:nvSpPr>
        <p:spPr>
          <a:xfrm>
            <a:off x="5321808" y="35204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Sub-camada 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21808" y="37673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— queries do decoder, keys/values do encoder.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93792" y="4151376"/>
            <a:ext cx="457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1" name="Text 49"/>
          <p:cNvSpPr/>
          <p:nvPr/>
        </p:nvSpPr>
        <p:spPr>
          <a:xfrm>
            <a:off x="5321808" y="417880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Sub-camada 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44256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+ Add &amp; LayerNorm — igual ao encoder.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MECANISMO DE ATENÇÃO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Dot-Product Attention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206240" cy="1481328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54864" cy="1481328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39496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base de dados difusa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492758"/>
            <a:ext cx="391363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uma query (o que procuras), keys (etiquetas do que está disponível) e values (o conteúdo). Em vez de uma correspondência exacta, calculas uma pontuação de compatibilidade entre a query e cada key, e retornas uma média ponderada dos values.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4206240" cy="914400"/>
          </a:xfrm>
          <a:prstGeom prst="rect">
            <a:avLst/>
          </a:prstGeom>
          <a:solidFill>
            <a:srgbClr val="0D2B3E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75181" y="2743200"/>
            <a:ext cx="42788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=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QKᵀ / √dₖ )· 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39776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754880" y="1170432"/>
            <a:ext cx="54864" cy="3401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882896" y="12618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19472" y="1664208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919472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162763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Dot products  Q Kᵀ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1901952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uma matriz (nq × nk) de pontuações. Entrada (i,j) = compatibilidade da query i com a key j.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19472" y="2377440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919472" y="2377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234086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Escala por √dₖ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615184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dₖ é grande, os dot products crescem em magnitude e empurram o softmax para gradientes ≈ 0. A divisão por √dₖ resolve.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090672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91947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368" y="3054096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Softmax → pesos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3328416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pontuações em pesos que somam 1. Diz quanto peso dar a cada value.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3803904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919472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376732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Produto por 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4041648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média ponderada dos values. Cada query obtém uma combinação relevante de toda a informação disponível.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712464"/>
            <a:ext cx="4206240" cy="1170432"/>
          </a:xfrm>
          <a:prstGeom prst="rect">
            <a:avLst/>
          </a:prstGeom>
          <a:solidFill>
            <a:srgbClr val="FFF3E0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548640" y="3767328"/>
            <a:ext cx="391363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attention (Bahdanau 2015) usa uma rede FFN para calcular compatibilidade — similar em teoria, mas o dot-product attention é muito mais rápido pois aproveita multiplicação matricial optimizada em GPU.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MECANISMO DE ATENÇÃO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 — a grande inovação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54864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MultiHead(Q,K,V) = Concat(head₁,...,headₕ)·Wᴼ     onde  headᵢ = Attention(Q·Wᵢᴼ, K·Wᵢᴷ, V·Wᵢᵛ)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5120640" cy="105156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54864" cy="105156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12064" y="1837113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múltiplas cabeças?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992561"/>
            <a:ext cx="4828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única cabeça, o output é uma média de todas as </a:t>
            </a:r>
            <a:r>
              <a:rPr lang="en-US" sz="1050" dirty="0" err="1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</a:t>
            </a: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dilui a informação. Com h=8 cabeças, cada uma pode focar em aspectos diferentes: sintaxe, semântica, correferência, etc. As cabeças aprendem comportamentos distintos sem supervisão.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828800"/>
            <a:ext cx="3154680" cy="1051560"/>
          </a:xfrm>
          <a:prstGeom prst="rect">
            <a:avLst/>
          </a:prstGeom>
          <a:solidFill>
            <a:srgbClr val="D6F0EE"/>
          </a:solidFill>
          <a:ln w="1905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656512" y="1879229"/>
            <a:ext cx="2484813" cy="161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76792" y="1840286"/>
            <a:ext cx="2971800" cy="235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</a:t>
            </a:r>
            <a:r>
              <a:rPr lang="en-US" sz="1100" b="1" dirty="0" err="1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paralelas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9260" y="3045405"/>
            <a:ext cx="3154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175642" y="2138576"/>
            <a:ext cx="1965683" cy="80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dₖ = dᵥ = 64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4377" y="2054764"/>
            <a:ext cx="2971800" cy="235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-&gt; </a:t>
            </a:r>
            <a:r>
              <a:rPr lang="en-US" sz="1100" b="1" dirty="0" err="1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cabeça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072" y="2323482"/>
            <a:ext cx="2971800" cy="168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 err="1">
                <a:solidFill>
                  <a:srgbClr val="0D2B3E"/>
                </a:solidFill>
                <a:latin typeface="Cambria" pitchFamily="34" charset="0"/>
                <a:ea typeface="Cambria" pitchFamily="34" charset="-122"/>
              </a:rPr>
              <a:t>d_model</a:t>
            </a:r>
            <a:r>
              <a:rPr lang="en-US" sz="11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</a:rPr>
              <a:t> / 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749040"/>
            <a:ext cx="3154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672583" y="2470139"/>
            <a:ext cx="297180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d_model = 512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3658" y="2533925"/>
            <a:ext cx="2971800" cy="235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</a:t>
            </a:r>
            <a:r>
              <a:rPr lang="en-US" sz="1100" b="1" dirty="0" err="1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modelo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97989" y="2309501"/>
            <a:ext cx="2971800" cy="168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en-US" sz="1050" b="1" dirty="0" err="1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050" b="1" dirty="0" err="1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552" y="2975125"/>
            <a:ext cx="8321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411480" y="2971800"/>
            <a:ext cx="54864" cy="1920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76072" y="30540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usos da atenção no Transformer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" y="3419856"/>
            <a:ext cx="45720" cy="13716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704088" y="3419856"/>
            <a:ext cx="2554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no encoder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" y="3730752"/>
            <a:ext cx="2554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vêm todos da camada anterior. Cada posição atende a todas as outras da frase de entrada.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49752" y="3419856"/>
            <a:ext cx="45720" cy="13716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3477768" y="3419856"/>
            <a:ext cx="2554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no decoder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7768" y="3730752"/>
            <a:ext cx="2554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Igual, mas com masking para posições futuras. Mantém a propriedade auto-regressiva (não "faz batota").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3432" y="3419856"/>
            <a:ext cx="45720" cy="13716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6230942" y="3418056"/>
            <a:ext cx="2554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(encoder-decoder)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8658" y="3727704"/>
            <a:ext cx="25542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vêm do decoder, mas Keys e Values vêm do encoder. Liga as duas metades — o decoder consulta a frase de origem.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POSITIONAL ENCODING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Representar a ordem sem recorrência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713232"/>
          </a:xfrm>
          <a:prstGeom prst="rect">
            <a:avLst/>
          </a:prstGeom>
          <a:solidFill>
            <a:srgbClr val="FFF3E0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76072" y="1199249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self-attention é invariante à permutação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408728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trocarmos a ordem dos tokens, o resultado da atenção seria o mesmo — o modelo não sabe que "gato" vem antes de "bebeu". É preciso injectar informação de posição explicitamente.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5029200" cy="1262976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11480" y="1993391"/>
            <a:ext cx="54864" cy="1262975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39496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— seno e cosseno de diferentes frequências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420937"/>
            <a:ext cx="4663440" cy="658368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713232" y="24323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PE(pos, 2i)   = sin( pos / 10000^(2i/d_model)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PE(pos, 2i+1) = cos( pos / 10000^(2i/d_model) 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993392"/>
            <a:ext cx="3200400" cy="1262974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5532120" y="1993391"/>
            <a:ext cx="54864" cy="1262973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650992" y="2002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esta escolha?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96712" y="2213402"/>
            <a:ext cx="290779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Extrapolação para sequências mais longas que as vistas no treino.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relativas: PE(pos+k) = transformação linear de PE(pos).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tem um vector único (frequências diferentes).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29520"/>
            <a:ext cx="2746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21208" y="3402672"/>
            <a:ext cx="2563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Adicionado às embeddings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3713568"/>
            <a:ext cx="2563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positional encoding tem dimensão d_model=512, igual às embeddings — podem ser somados directamente na entrada do encoder e decoder.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30880" y="3329520"/>
            <a:ext cx="2746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3340608" y="3402672"/>
            <a:ext cx="2563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previsível e regular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40608" y="3713568"/>
            <a:ext cx="2563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funções sinusoidais têm comportamento matemático regular, permitindo que o modelo aprenda a interpretar posições relativas.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0280" y="3329520"/>
            <a:ext cx="2746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160008" y="3402672"/>
            <a:ext cx="2563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Aprendido vs sinusoidal: empate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0008" y="3713568"/>
            <a:ext cx="2563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autores experimentaram positional embeddings aprendidos e obtiveram resultados quase idênticos — o que importa é ter informação de posição.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TREINO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de treino e regularização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54864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39496" y="1261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536192"/>
            <a:ext cx="24780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EN→DE: 4.5M pares, vocab 37K tokens (BPE)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EN→FR: 36M frases, 32K word-pieces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de ≈25K tokens source + 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54864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374136" y="1261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53619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NVIDIA P100 GPUs (1 máquina)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100K steps ≈ 12h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big: 300K steps ≈ 3.5 dias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170432"/>
            <a:ext cx="3063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54864" cy="14173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208776" y="1261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4493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β₁=0.9  β₂=0.98  ε=10⁻⁹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1679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lrate = d_model⁻⁰·⁵ · min(step⁻⁰·⁵, step·warmup⁻¹·⁵)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5352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4000 steps → lr aumenta depois decresce.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43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072384"/>
            <a:ext cx="2712720" cy="187452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411480" y="3072384"/>
            <a:ext cx="54864" cy="18745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576072" y="3145536"/>
            <a:ext cx="2484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Dropout  P_drop=0.1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" y="3474720"/>
            <a:ext cx="2484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ao output de cada sub-camada antes do residual, e nas somas embeddings + positional encoding. Impede overfitting desligando 10% das activações.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5640" y="3072384"/>
            <a:ext cx="2712720" cy="187452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3215640" y="3072384"/>
            <a:ext cx="54864" cy="18745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3380232" y="3145536"/>
            <a:ext cx="2484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 ε_ls=0.1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0232" y="3474720"/>
            <a:ext cx="2484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treinar com 100% na palavra correcta, suaviza: 90% correcta + 10% distribuído. Piora perplexidade mas melhora BLEU — modelo mais calibrado.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19800" y="3072384"/>
            <a:ext cx="2712720" cy="187452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6019800" y="3072384"/>
            <a:ext cx="54864" cy="18745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6184392" y="3145536"/>
            <a:ext cx="2484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Averaging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4392" y="3474720"/>
            <a:ext cx="2484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média dos últimos 5 checkpoints. Big: últimos 20. Beam search com beam size=4 e penalização de comprimento α=0.6.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RESULTADOS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Tradução automática — WMT 2014 EN→DE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97480" cy="1051560"/>
          </a:xfrm>
          <a:prstGeom prst="rect">
            <a:avLst/>
          </a:prstGeom>
          <a:solidFill>
            <a:srgbClr val="D6F0EE"/>
          </a:solidFill>
          <a:ln w="1905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25146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 BLEU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696212"/>
            <a:ext cx="251460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EN→DE Transformer big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01164"/>
            <a:ext cx="2514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SOTA (+2 sobre melhor ensemble)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251460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 BLEU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696212"/>
            <a:ext cx="251460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EN→DE Transformer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01164"/>
            <a:ext cx="2514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todos os sistemas anteriores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170432"/>
            <a:ext cx="3063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172200" y="1261872"/>
            <a:ext cx="2880360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3.3×10¹⁸ FLOPs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1696212"/>
            <a:ext cx="288036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001164"/>
            <a:ext cx="2880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do custo do ConvS2S Ensemble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359152"/>
            <a:ext cx="5029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548640" y="24323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BLEU EN→DE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28163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ConvS2S Ensemble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2880360"/>
            <a:ext cx="1687251" cy="256032"/>
          </a:xfrm>
          <a:prstGeom prst="rect">
            <a:avLst/>
          </a:prstGeom>
          <a:solidFill>
            <a:srgbClr val="B5D5D3"/>
          </a:solidFill>
          <a:ln w="12700">
            <a:solidFill>
              <a:srgbClr val="B5D5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119555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101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GNMT+RL Ensemble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3374136"/>
            <a:ext cx="1683410" cy="256032"/>
          </a:xfrm>
          <a:prstGeom prst="rect">
            <a:avLst/>
          </a:prstGeom>
          <a:solidFill>
            <a:srgbClr val="B5D5D3"/>
          </a:solidFill>
          <a:ln w="12700">
            <a:solidFill>
              <a:srgbClr val="B5D5D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115714" y="3374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8039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(base)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77440" y="3867912"/>
            <a:ext cx="1747418" cy="256032"/>
          </a:xfrm>
          <a:prstGeom prst="rect">
            <a:avLst/>
          </a:prstGeom>
          <a:solidFill>
            <a:srgbClr val="7FA8A5"/>
          </a:solidFill>
          <a:ln w="12700">
            <a:solidFill>
              <a:srgbClr val="7FA8A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179722" y="38679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(big) 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77440" y="4361688"/>
            <a:ext cx="1817827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250131" y="4361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359152"/>
            <a:ext cx="3520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5212080" y="2359152"/>
            <a:ext cx="54864" cy="2468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5376672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treino (FLOPs estimados)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13248" y="288950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GNMT+RL Ensemble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889504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1.8×10²⁰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83296" y="288950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13248" y="336499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ConvS2S Ensemble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3364992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7.7×10¹⁹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83296" y="336499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~23×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76672" y="3803904"/>
            <a:ext cx="3182112" cy="402336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5413248" y="38404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(big)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3840480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2.3×10¹⁹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83296" y="38404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13248" y="431596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(base)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40880" y="4315968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3.3×10¹⁸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83296" y="431596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~7× menor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RESULTADOS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— o que realmente importa?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autores fizeram variações sistemáticas do modelo base para isolar o impacto de cada componente: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74624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54864" cy="3429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76072" y="1490472"/>
            <a:ext cx="2517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cabeças (h)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" y="1847088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12648" y="1865376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 (single-head)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2084832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 BLEU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" y="2377440"/>
            <a:ext cx="2545080" cy="475488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12648" y="2395728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8 (configuração base)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615184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óptimo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" y="2907792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12648" y="2926080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16 ou h = 32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3145536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ganho ou pior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" y="3511296"/>
            <a:ext cx="2545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cabeças permitem focar em aspectos diferentes. Demasiadas (dₖ=16) degradam.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30880" y="1417320"/>
            <a:ext cx="274624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3230880" y="1417320"/>
            <a:ext cx="54864" cy="3429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3395472" y="1490472"/>
            <a:ext cx="2517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dₖ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77184" y="1847088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432048" y="1865376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32048" y="2084832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 BLEU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77184" y="2377440"/>
            <a:ext cx="2545080" cy="475488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3432048" y="2395728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64 (base)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32048" y="2615184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óptimo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77184" y="2907792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3432048" y="2926080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128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32048" y="3145536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ligeira melhoria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77184" y="3511296"/>
            <a:ext cx="2545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compatibilidade Q-K exige dimensão suficiente — dot-product simples é limitado.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50280" y="1417320"/>
            <a:ext cx="2746248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Shape 32"/>
          <p:cNvSpPr/>
          <p:nvPr/>
        </p:nvSpPr>
        <p:spPr>
          <a:xfrm>
            <a:off x="6050280" y="1417320"/>
            <a:ext cx="54864" cy="34290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6214872" y="1490472"/>
            <a:ext cx="2517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e tamanho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6584" y="1847088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6251448" y="1865376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dropout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1448" y="2084832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 BLEU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6584" y="2377440"/>
            <a:ext cx="2545080" cy="475488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6251448" y="2395728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big (213M params)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1448" y="2615184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maior = melhor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96584" y="2907792"/>
            <a:ext cx="2545080" cy="475488"/>
          </a:xfrm>
          <a:prstGeom prst="rect">
            <a:avLst/>
          </a:prstGeom>
          <a:solidFill>
            <a:srgbClr val="F0F7F6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Text 41"/>
          <p:cNvSpPr/>
          <p:nvPr/>
        </p:nvSpPr>
        <p:spPr>
          <a:xfrm>
            <a:off x="6251448" y="2926080"/>
            <a:ext cx="2426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aprendido vs sinusoidal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1448" y="3145536"/>
            <a:ext cx="2426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essencialmente igual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6584" y="3511296"/>
            <a:ext cx="2545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é crítico. Modelos maiores são consistentemente melhores.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GENERALIZAÇÃO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Constituency Parsing — Penn Treebank WSJ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650975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42416"/>
            <a:ext cx="4114800" cy="1371600"/>
          </a:xfrm>
          <a:prstGeom prst="rect">
            <a:avLst/>
          </a:prstGeom>
          <a:solidFill>
            <a:srgbClr val="FFF3E0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54864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39496" y="11658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esta tarefa é desafiante?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4523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com constraints estruturais fortes (árvore sintáctica válida).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significativamente mais longo que o input.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seq2seq tinham dificuldade com poucos dados.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42416"/>
            <a:ext cx="4069080" cy="137160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663440" y="1042416"/>
            <a:ext cx="54864" cy="13716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754880" y="11064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— sem fine-tuning específico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5840" y="140208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4 camadas com d_model=1024.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 no WSJ (~40K frases) e semi-supervisionado (~17M).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dropout, lr e beam size ajustados no dev set.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201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F1 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8407" y="2649963"/>
            <a:ext cx="5029200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37033" y="265661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7607" y="2649963"/>
            <a:ext cx="2194560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594741" y="26519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2649963"/>
            <a:ext cx="1508760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7812300" y="26519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015723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24811" y="3009488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Dyer et al. (2016) — generativo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7607" y="3011151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504688" y="3041631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WSJ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35240" y="3015723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7726680" y="3053823"/>
            <a:ext cx="1380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3437871"/>
            <a:ext cx="5029200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513727" y="3443417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4 camadas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0680" y="3437871"/>
            <a:ext cx="2194560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5495544" y="3463779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semi-supervisionado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35240" y="3437871"/>
            <a:ext cx="1508760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7726680" y="3463779"/>
            <a:ext cx="1380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92.7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" y="3858495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502920" y="3870687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Vinyals et al. (2014)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3858495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5495544" y="3870687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semi-supervisionado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635240" y="3858495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7708392" y="3870687"/>
            <a:ext cx="1380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1480" y="4291311"/>
            <a:ext cx="502920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502920" y="4283557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4 camadas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0680" y="4291311"/>
            <a:ext cx="219456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5495544" y="4279119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WSJ only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35240" y="4291311"/>
            <a:ext cx="150876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7699248" y="4321791"/>
            <a:ext cx="1380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91.3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" y="4711935"/>
            <a:ext cx="5029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496824" y="4717477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BerkeleyParser (Petrov et al.)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40680" y="4711935"/>
            <a:ext cx="21945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Text 46"/>
          <p:cNvSpPr/>
          <p:nvPr/>
        </p:nvSpPr>
        <p:spPr>
          <a:xfrm>
            <a:off x="5489448" y="4705839"/>
            <a:ext cx="20665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WSJ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632192" y="4711935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48"/>
          <p:cNvSpPr/>
          <p:nvPr/>
        </p:nvSpPr>
        <p:spPr>
          <a:xfrm>
            <a:off x="7696200" y="4711935"/>
            <a:ext cx="1380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GENERALIZAÇÃO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Interpretabilidade — um bónus inesperado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visualizações de </a:t>
            </a:r>
            <a:r>
              <a:rPr lang="en-US" sz="1200" dirty="0" err="1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r>
              <a:rPr lang="en-US" sz="12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</a:t>
            </a:r>
            <a:r>
              <a:rPr lang="en-US" sz="12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comportamentos linguisticamente coerentes emergentes — sem qualquer supervisão explícita: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64008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anáfora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8065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processa a palavra "its" na frase "The Law will never be perfect, but its application should be just", várias cabeças atendem fortemente a "Law" — o antecedente correcto. O modelo inferiu a correferência sem ter sido treinado para isso.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6400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94360" y="2688336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sintácticas longas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62656"/>
            <a:ext cx="8065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palavra "making" na frase "...making the registration or voting process more difficult", as cabeças atendem para "more difficult", completando o sintagma verbal apesar dos vários tokens intermédios. O path length O(1) torna isto trivial.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730752"/>
            <a:ext cx="64008" cy="96012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594360" y="3767328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por cabeça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041648"/>
            <a:ext cx="8065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diferentes aprenderam claramente a executar tarefas diferentes — algumas são mais "globais" (atendem a muitas posições), outras são "locais" (atendem principalmente a tokens próximos). Cada cabeça descobriu a sua própria função.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solidFill>
            <a:srgbClr val="EAF4F3"/>
          </a:solidFill>
          <a:ln w="1270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contrasta com RNNs, cujos estados ocultos são vectores densos praticamente impossíveis de interpretar directamente.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ANÁLISE COMPARATIVA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Porquê self-attention supera recorrência e convoluções?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em 3 dimensões críticas — n = comprimento da sequência, d = dimensão da representação, k = kernel size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395728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camada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208" y="1463040"/>
            <a:ext cx="2240280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88036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/ camada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7488" y="1463040"/>
            <a:ext cx="2011680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Ops. Sequenciais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59168" y="1463040"/>
            <a:ext cx="2084832" cy="36576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7132320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828800"/>
            <a:ext cx="2395728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07208" y="1828800"/>
            <a:ext cx="2240280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2898648" y="1828800"/>
            <a:ext cx="2112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O(n²·d)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47488" y="1828800"/>
            <a:ext cx="2011680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138928" y="1828800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 ✓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59168" y="1828800"/>
            <a:ext cx="2084832" cy="420624"/>
          </a:xfrm>
          <a:prstGeom prst="rect">
            <a:avLst/>
          </a:prstGeom>
          <a:solidFill>
            <a:srgbClr val="D6F0EE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7150608" y="1828800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 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2249424"/>
            <a:ext cx="2395728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502920" y="2249424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(RNN/LSTM)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07208" y="2249424"/>
            <a:ext cx="224028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2898648" y="2249424"/>
            <a:ext cx="2112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O(n·d²)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2249424"/>
            <a:ext cx="201168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5138928" y="2249424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  ✗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59168" y="2249424"/>
            <a:ext cx="2084832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7150608" y="2249424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  ✗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1480" y="2670048"/>
            <a:ext cx="239572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502920" y="2670048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(kernel 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07208" y="2670048"/>
            <a:ext cx="2240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2898648" y="2670048"/>
            <a:ext cx="2112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O(k·n·d²)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47488" y="267004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5138928" y="2670048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 ✓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059168" y="2670048"/>
            <a:ext cx="20848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7150608" y="2670048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O(logₖ n)  ~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1480" y="3090672"/>
            <a:ext cx="2395728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Text 38"/>
          <p:cNvSpPr/>
          <p:nvPr/>
        </p:nvSpPr>
        <p:spPr>
          <a:xfrm>
            <a:off x="502920" y="3090672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 (restrita, r&lt;n)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07208" y="3090672"/>
            <a:ext cx="224028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2898648" y="3090672"/>
            <a:ext cx="21122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O(r·n·d)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47488" y="3090672"/>
            <a:ext cx="2011680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5138928" y="3090672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 ✓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059168" y="3090672"/>
            <a:ext cx="2084832" cy="420624"/>
          </a:xfrm>
          <a:prstGeom prst="rect">
            <a:avLst/>
          </a:prstGeom>
          <a:solidFill>
            <a:srgbClr val="EAF4F3"/>
          </a:solidFill>
          <a:ln w="6350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7150608" y="3090672"/>
            <a:ext cx="1956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4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O(n/r)  ~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11480" y="3566160"/>
            <a:ext cx="2746248" cy="137160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Shape 46"/>
          <p:cNvSpPr/>
          <p:nvPr/>
        </p:nvSpPr>
        <p:spPr>
          <a:xfrm>
            <a:off x="411480" y="3566160"/>
            <a:ext cx="54864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9" name="Text 47"/>
          <p:cNvSpPr/>
          <p:nvPr/>
        </p:nvSpPr>
        <p:spPr>
          <a:xfrm>
            <a:off x="576072" y="3639312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self-attn ganha quando n &lt; 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6072" y="3986784"/>
            <a:ext cx="25176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tradução, n &lt; d. Logo O(n²·d) &lt; O(n·d²) — self-attention é mais eficiente que recorrência.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30880" y="3566160"/>
            <a:ext cx="2746248" cy="137160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2" name="Shape 50"/>
          <p:cNvSpPr/>
          <p:nvPr/>
        </p:nvSpPr>
        <p:spPr>
          <a:xfrm>
            <a:off x="3230880" y="3566160"/>
            <a:ext cx="54864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3" name="Text 51"/>
          <p:cNvSpPr/>
          <p:nvPr/>
        </p:nvSpPr>
        <p:spPr>
          <a:xfrm>
            <a:off x="3395472" y="3639312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Paralelização: O(1) ops sequenciais é decisivo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95472" y="3986784"/>
            <a:ext cx="25176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exigem n passos sequenciais — o passo t espera pelo t-1. Self-attention processa tudo em paralelo.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50280" y="3566160"/>
            <a:ext cx="2746248" cy="1371600"/>
          </a:xfrm>
          <a:prstGeom prst="rect">
            <a:avLst/>
          </a:prstGeom>
          <a:solidFill>
            <a:srgbClr val="EAF4F3"/>
          </a:solidFill>
          <a:ln w="9525">
            <a:solidFill>
              <a:srgbClr val="C8DDD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6" name="Shape 54"/>
          <p:cNvSpPr/>
          <p:nvPr/>
        </p:nvSpPr>
        <p:spPr>
          <a:xfrm>
            <a:off x="6050280" y="3566160"/>
            <a:ext cx="54864" cy="13716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7" name="Text 55"/>
          <p:cNvSpPr/>
          <p:nvPr/>
        </p:nvSpPr>
        <p:spPr>
          <a:xfrm>
            <a:off x="6214872" y="3639312"/>
            <a:ext cx="2517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O(1): dependências longas triviais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14872" y="3986784"/>
            <a:ext cx="251764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self-attention, quaisquer dois tokens comunicam directamente em 1 passo, independentemente da distância.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IMPACTO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 legado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mais influente em NLP da última década. Consequências directas: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2746248" cy="1600200"/>
          </a:xfrm>
          <a:prstGeom prst="rect">
            <a:avLst/>
          </a:prstGeom>
          <a:solidFill>
            <a:srgbClr val="0E3D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746248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2380488" y="1536192"/>
            <a:ext cx="658368" cy="219456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380488" y="15361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9496" y="1554480"/>
            <a:ext cx="1786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" y="186537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39496" y="1865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only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" y="2139696"/>
            <a:ext cx="252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 com masked language modeling. Referência de NLP durante anos. Base dos modelos de NER, classificação, QA fine-tuned.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30880" y="1444752"/>
            <a:ext cx="2746248" cy="1600200"/>
          </a:xfrm>
          <a:prstGeom prst="rect">
            <a:avLst/>
          </a:prstGeom>
          <a:solidFill>
            <a:srgbClr val="0E3D4A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3230880" y="1444752"/>
            <a:ext cx="274624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5199888" y="1536192"/>
            <a:ext cx="658368" cy="219456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199888" y="15361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8896" y="1554480"/>
            <a:ext cx="1786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/ GPT-2/3/4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58896" y="186537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3358896" y="1865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only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58896" y="2139696"/>
            <a:ext cx="252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com masked self-attention. Base de todos os modelos generativos actuais — incluindo eu próprio.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50280" y="1444752"/>
            <a:ext cx="2746248" cy="1600200"/>
          </a:xfrm>
          <a:prstGeom prst="rect">
            <a:avLst/>
          </a:prstGeom>
          <a:solidFill>
            <a:srgbClr val="0E3D4A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6050280" y="1444752"/>
            <a:ext cx="2746248" cy="54864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8019288" y="1536192"/>
            <a:ext cx="658368" cy="219456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8019288" y="15361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78296" y="1554480"/>
            <a:ext cx="1786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8296" y="186537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178296" y="1865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8296" y="2139696"/>
            <a:ext cx="2526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Transformer completo. Formula todas as tarefas NLP como sequence-to-sequence — tradução, resumo, QA, classificação.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" y="3182112"/>
            <a:ext cx="3995928" cy="1755648"/>
          </a:xfrm>
          <a:prstGeom prst="rect">
            <a:avLst/>
          </a:prstGeom>
          <a:solidFill>
            <a:srgbClr val="0E3D4A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Shape 30"/>
          <p:cNvSpPr/>
          <p:nvPr/>
        </p:nvSpPr>
        <p:spPr>
          <a:xfrm>
            <a:off x="868680" y="3182112"/>
            <a:ext cx="399592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4087368" y="3273552"/>
            <a:ext cx="658368" cy="219456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4087368" y="3273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96696" y="32918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96696" y="360273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996696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— patches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96696" y="3877056"/>
            <a:ext cx="3776472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Transformer a imagens tratando patches 16×16 como tokens. Exactamente o que os autores anteciparam como trabalho futuro.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3182112"/>
            <a:ext cx="3995928" cy="1755648"/>
          </a:xfrm>
          <a:prstGeom prst="rect">
            <a:avLst/>
          </a:prstGeom>
          <a:solidFill>
            <a:srgbClr val="0E3D4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0" name="Shape 38"/>
          <p:cNvSpPr/>
          <p:nvPr/>
        </p:nvSpPr>
        <p:spPr>
          <a:xfrm>
            <a:off x="5120640" y="3182112"/>
            <a:ext cx="3995928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1" name="Shape 39"/>
          <p:cNvSpPr/>
          <p:nvPr/>
        </p:nvSpPr>
        <p:spPr>
          <a:xfrm>
            <a:off x="8339328" y="3273552"/>
            <a:ext cx="658368" cy="219456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8339328" y="3273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48656" y="32918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Transformers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48656" y="360273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5" name="Text 43"/>
          <p:cNvSpPr/>
          <p:nvPr/>
        </p:nvSpPr>
        <p:spPr>
          <a:xfrm>
            <a:off x="5248656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imagem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48656" y="3877056"/>
            <a:ext cx="3776472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Stable Diffusion 3 e DALL-E 3. Substitui a U-Net de CNNs por blocos Transformer para geração de imagens.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2420</Words>
  <Application>Microsoft Office PowerPoint</Application>
  <PresentationFormat>Apresentação no Ecrã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Diogo Ribeiro Vassalo de Abreu</cp:lastModifiedBy>
  <cp:revision>3</cp:revision>
  <dcterms:created xsi:type="dcterms:W3CDTF">2026-05-18T17:45:18Z</dcterms:created>
  <dcterms:modified xsi:type="dcterms:W3CDTF">2026-05-18T21:47:56Z</dcterms:modified>
</cp:coreProperties>
</file>